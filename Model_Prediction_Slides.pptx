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3"/>
  </p:notesMasterIdLst>
  <p:sldIdLst>
    <p:sldId id="1327" r:id="rId2"/>
    <p:sldId id="1331" r:id="rId3"/>
    <p:sldId id="1330" r:id="rId4"/>
    <p:sldId id="1345" r:id="rId5"/>
    <p:sldId id="1346" r:id="rId6"/>
    <p:sldId id="1348" r:id="rId7"/>
    <p:sldId id="1347" r:id="rId8"/>
    <p:sldId id="1349" r:id="rId9"/>
    <p:sldId id="1351" r:id="rId10"/>
    <p:sldId id="1352" r:id="rId11"/>
    <p:sldId id="1334" r:id="rId12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9pPr>
  </p:defaultTextStyle>
  <p:extLst>
    <p:ext uri="{EFAFB233-063F-42B5-8137-9DF3F51BA10A}">
      <p15:sldGuideLst xmlns:p15="http://schemas.microsoft.com/office/powerpoint/2012/main">
        <p15:guide id="1" orient="horz" pos="289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667" userDrawn="1">
          <p15:clr>
            <a:srgbClr val="A4A3A4"/>
          </p15:clr>
        </p15:guide>
        <p15:guide id="4" orient="horz" pos="894" userDrawn="1">
          <p15:clr>
            <a:srgbClr val="A4A3A4"/>
          </p15:clr>
        </p15:guide>
        <p15:guide id="5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C9D"/>
    <a:srgbClr val="BDBDBD"/>
    <a:srgbClr val="DEECCD"/>
    <a:srgbClr val="FD4D4D"/>
    <a:srgbClr val="F78F8F"/>
    <a:srgbClr val="FFC611"/>
    <a:srgbClr val="FFAB40"/>
    <a:srgbClr val="FEA83A"/>
    <a:srgbClr val="FFD966"/>
    <a:srgbClr val="BAE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19" autoAdjust="0"/>
    <p:restoredTop sz="81910" autoAdjust="0"/>
  </p:normalViewPr>
  <p:slideViewPr>
    <p:cSldViewPr snapToGrid="0">
      <p:cViewPr varScale="1">
        <p:scale>
          <a:sx n="115" d="100"/>
          <a:sy n="115" d="100"/>
        </p:scale>
        <p:origin x="1014" y="96"/>
      </p:cViewPr>
      <p:guideLst>
        <p:guide orient="horz" pos="2890"/>
        <p:guide pos="2880"/>
        <p:guide orient="horz" pos="667"/>
        <p:guide orient="horz" pos="894"/>
        <p:guide pos="1474"/>
      </p:guideLst>
    </p:cSldViewPr>
  </p:slideViewPr>
  <p:outlineViewPr>
    <p:cViewPr>
      <p:scale>
        <a:sx n="33" d="100"/>
        <a:sy n="33" d="100"/>
      </p:scale>
      <p:origin x="0" y="45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133165</c:v>
                </c:pt>
                <c:pt idx="1">
                  <c:v>181584</c:v>
                </c:pt>
                <c:pt idx="2">
                  <c:v>182985</c:v>
                </c:pt>
                <c:pt idx="3">
                  <c:v>213293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D7-4201-A41C-E10ADD32D4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115602</c:v>
                </c:pt>
                <c:pt idx="1">
                  <c:v>116501</c:v>
                </c:pt>
                <c:pt idx="2">
                  <c:v>117185</c:v>
                </c:pt>
                <c:pt idx="3">
                  <c:v>148812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D7-4201-A41C-E10ADD32D4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115694</c:v>
                </c:pt>
                <c:pt idx="1">
                  <c:v>116857</c:v>
                </c:pt>
                <c:pt idx="2">
                  <c:v>118172</c:v>
                </c:pt>
                <c:pt idx="3">
                  <c:v>148925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D7-4201-A41C-E10ADD32D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24587567"/>
        <c:axId val="1724588047"/>
      </c:barChart>
      <c:catAx>
        <c:axId val="1724587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588047"/>
        <c:crosses val="autoZero"/>
        <c:auto val="1"/>
        <c:lblAlgn val="ctr"/>
        <c:lblOffset val="100"/>
        <c:noMultiLvlLbl val="0"/>
      </c:catAx>
      <c:valAx>
        <c:axId val="17245880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2458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94575</c:v>
                </c:pt>
                <c:pt idx="1">
                  <c:v>124218</c:v>
                </c:pt>
                <c:pt idx="2">
                  <c:v>170458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D7-4201-A41C-E10ADD32D4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94623</c:v>
                </c:pt>
                <c:pt idx="1">
                  <c:v>71693</c:v>
                </c:pt>
                <c:pt idx="2">
                  <c:v>117800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D7-4201-A41C-E10ADD32D4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118172</c:v>
                </c:pt>
                <c:pt idx="1">
                  <c:v>71737</c:v>
                </c:pt>
                <c:pt idx="2">
                  <c:v>118021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D7-4201-A41C-E10ADD32D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24587567"/>
        <c:axId val="1724588047"/>
      </c:barChart>
      <c:catAx>
        <c:axId val="1724587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588047"/>
        <c:crosses val="autoZero"/>
        <c:auto val="1"/>
        <c:lblAlgn val="ctr"/>
        <c:lblOffset val="100"/>
        <c:noMultiLvlLbl val="0"/>
      </c:catAx>
      <c:valAx>
        <c:axId val="17245880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2458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734336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Assumption:</a:t>
            </a:r>
          </a:p>
          <a:p>
            <a:r>
              <a:rPr lang="en-US" dirty="0"/>
              <a:t>For records prior to March 2012, the data are based on the date of approval for the resale transactions.</a:t>
            </a:r>
          </a:p>
          <a:p>
            <a:r>
              <a:rPr lang="en-US" dirty="0"/>
              <a:t>From March 2012 onwards, the data are based on the date of registration of the resale transactions.</a:t>
            </a:r>
          </a:p>
          <a:p>
            <a:r>
              <a:rPr lang="en-US" dirty="0"/>
              <a:t>From desktop research, the difference between date of approval and date of registration of resale transactions differ about 2 weeks apart. Since our data records this information by year and month, this gap can be ignored, and the dates can be treated as equivalent.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352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E09D-0CF3-A987-C989-0D08A9B5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CF327-C72A-5972-6556-89810D392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46309-FB8D-E186-A1B6-AEF45975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045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0059-09A5-FCC4-C42B-9756CE3A2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A97D8-2609-0BEB-778D-531F489CD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88B9B-2FB8-7597-9A8D-E69BFFC15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201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3D83-7902-BB27-4226-B7998007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EC43F-5F68-65EC-4775-B22356AA0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CFA8F-BCB8-01CF-FFCD-8AD20AE52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2443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All 3 regression models agree that Flat model Terrace, Type S2 and S1 are the top 3 largest drivers of increases in resale prices.</a:t>
            </a:r>
          </a:p>
          <a:p>
            <a:r>
              <a:rPr lang="en-SG" dirty="0"/>
              <a:t>Linear and Ridge: Marine Parade is 4</a:t>
            </a:r>
            <a:r>
              <a:rPr lang="en-SG" baseline="30000" dirty="0"/>
              <a:t>th</a:t>
            </a:r>
            <a:endParaRPr lang="en-SG" dirty="0"/>
          </a:p>
          <a:p>
            <a:r>
              <a:rPr lang="en-SG" dirty="0"/>
              <a:t>Lasso: Marine Parade is 5</a:t>
            </a:r>
            <a:r>
              <a:rPr lang="en-SG" baseline="30000" dirty="0"/>
              <a:t>th</a:t>
            </a:r>
            <a:r>
              <a:rPr lang="en-SG" dirty="0"/>
              <a:t> </a:t>
            </a:r>
          </a:p>
          <a:p>
            <a:endParaRPr lang="en-SG" dirty="0"/>
          </a:p>
          <a:p>
            <a:r>
              <a:rPr lang="en-US" dirty="0"/>
              <a:t>OLS: “True” effect, holding other variables constant.</a:t>
            </a:r>
          </a:p>
          <a:p>
            <a:r>
              <a:rPr lang="en-US" dirty="0"/>
              <a:t>Ridge: Direction and relative importance matter more than size. (A value of 20k means: after </a:t>
            </a:r>
            <a:r>
              <a:rPr lang="en-US" dirty="0" err="1"/>
              <a:t>penalising</a:t>
            </a:r>
            <a:r>
              <a:rPr lang="en-US" dirty="0"/>
              <a:t> large coefficients, terrace flats are associated with about $20k higher resale prices, holding others constant.)</a:t>
            </a:r>
          </a:p>
          <a:p>
            <a:r>
              <a:rPr lang="en-US" dirty="0"/>
              <a:t>Lasso: Presence vs absence matters more than size. (If it is 20k, it means terrace flats have about $20k higher prices, conditional on the variables lasso kept.)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527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SG" dirty="0"/>
              <a:t>All 3 regression models agree that 1 room flat is the largest driver of decreases in resale prices.</a:t>
            </a:r>
          </a:p>
          <a:p>
            <a:pPr latinLnBrk="1"/>
            <a:r>
              <a:rPr lang="en-SG" dirty="0"/>
              <a:t>Linear and Ridge: property being in Sembawang is the next top driver.</a:t>
            </a:r>
          </a:p>
          <a:p>
            <a:pPr latinLnBrk="1"/>
            <a:r>
              <a:rPr lang="en-SG" dirty="0"/>
              <a:t>Lasso indicates that flat_type_2 room is the next top driver.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9249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 cap="none" dirty="0">
                <a:solidFill>
                  <a:schemeClr val="dk1"/>
                </a:solidFill>
                <a:effectLst/>
                <a:latin typeface="Segoe UI"/>
                <a:ea typeface="Segoe UI"/>
                <a:cs typeface="Segoe UI"/>
                <a:sym typeface="Segoe UI"/>
              </a:rPr>
              <a:t>Decision trees helps to capture non‑linear thresholds (e.g. floor area).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729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700" y="0"/>
            <a:ext cx="3543300" cy="5143500"/>
          </a:xfrm>
          <a:prstGeom prst="rect">
            <a:avLst/>
          </a:prstGeom>
        </p:spPr>
      </p:pic>
      <p:sp>
        <p:nvSpPr>
          <p:cNvPr id="4" name="Shape 37"/>
          <p:cNvSpPr/>
          <p:nvPr userDrawn="1"/>
        </p:nvSpPr>
        <p:spPr>
          <a:xfrm>
            <a:off x="0" y="0"/>
            <a:ext cx="5763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549" y="1436959"/>
            <a:ext cx="4694350" cy="5727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SG" dirty="0"/>
          </a:p>
        </p:txBody>
      </p:sp>
      <p:sp>
        <p:nvSpPr>
          <p:cNvPr id="6" name="Oval 5"/>
          <p:cNvSpPr/>
          <p:nvPr/>
        </p:nvSpPr>
        <p:spPr>
          <a:xfrm>
            <a:off x="5110641" y="1957092"/>
            <a:ext cx="1241354" cy="1241354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733425" y="3516313"/>
            <a:ext cx="4377216" cy="45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Presenters</a:t>
            </a:r>
            <a:endParaRPr lang="en-SG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33425" y="4059399"/>
            <a:ext cx="4377216" cy="450438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Organisation</a:t>
            </a:r>
            <a:r>
              <a:rPr lang="en-US" dirty="0"/>
              <a:t> / Date</a:t>
            </a:r>
            <a:endParaRPr lang="en-SG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43" y="1988856"/>
            <a:ext cx="1231313" cy="12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3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(Blue)">
    <p:bg>
      <p:bgRef idx="1001">
        <a:schemeClr val="bg1"/>
      </p:bgRef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0" y="2484800"/>
            <a:ext cx="4297680" cy="1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300" y="2537138"/>
            <a:ext cx="3646160" cy="126302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accent2"/>
              </a:buClr>
              <a:buSzPct val="100000"/>
              <a:buFont typeface="Segoe UI"/>
              <a:defRPr sz="2800"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572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"/>
          </p:nvPr>
        </p:nvSpPr>
        <p:spPr>
          <a:xfrm>
            <a:off x="3276600" y="1214707"/>
            <a:ext cx="55557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72050" y="863531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8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ck BG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45931"/>
            <a:ext cx="9144000" cy="41975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accent6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97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Emphasize (Blue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85206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758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ze (2 Columns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431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 and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022888"/>
            <a:ext cx="9144000" cy="358785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97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40436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4281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446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Less Text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6267450" y="857000"/>
            <a:ext cx="2564849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865656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201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Diamond 1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Shape 8"/>
          <p:cNvSpPr txBox="1">
            <a:spLocks/>
          </p:cNvSpPr>
          <p:nvPr userDrawn="1"/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7283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5221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032760"/>
            <a:ext cx="9144000" cy="211074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753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311700" y="3032978"/>
            <a:ext cx="8520600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Diamond 10"/>
          <p:cNvSpPr/>
          <p:nvPr userDrawn="1"/>
        </p:nvSpPr>
        <p:spPr>
          <a:xfrm rot="5400000">
            <a:off x="4446431" y="2907409"/>
            <a:ext cx="251138" cy="251138"/>
          </a:xfrm>
          <a:prstGeom prst="diamond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019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Less Text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857625"/>
            <a:ext cx="8508450" cy="77724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700" y="3591862"/>
            <a:ext cx="8520600" cy="251138"/>
            <a:chOff x="311700" y="2907409"/>
            <a:chExt cx="8520600" cy="251138"/>
          </a:xfrm>
        </p:grpSpPr>
        <p:cxnSp>
          <p:nvCxnSpPr>
            <p:cNvPr id="9" name="Straight Connector 8"/>
            <p:cNvCxnSpPr/>
            <p:nvPr userDrawn="1"/>
          </p:nvCxnSpPr>
          <p:spPr>
            <a:xfrm flipH="1">
              <a:off x="311700" y="3032978"/>
              <a:ext cx="8520600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Diamond 10"/>
            <p:cNvSpPr/>
            <p:nvPr userDrawn="1"/>
          </p:nvSpPr>
          <p:spPr>
            <a:xfrm rot="5400000">
              <a:off x="4446431" y="290740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9516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604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7221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 - Long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40484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2291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Right 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5492839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338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6226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21282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470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Transi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2708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5" name="Shape 25"/>
          <p:cNvSpPr txBox="1">
            <a:spLocks noGrp="1"/>
          </p:cNvSpPr>
          <p:nvPr>
            <p:ph type="body" idx="2"/>
          </p:nvPr>
        </p:nvSpPr>
        <p:spPr>
          <a:xfrm>
            <a:off x="5292709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11700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5292708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334" y="2453091"/>
            <a:ext cx="1140105" cy="1140105"/>
          </a:xfrm>
          <a:prstGeom prst="rect">
            <a:avLst/>
          </a:prstGeom>
        </p:spPr>
      </p:pic>
      <p:sp>
        <p:nvSpPr>
          <p:cNvPr id="17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939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1810754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8144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2506213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2506213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0786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6130343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130343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Shape 25"/>
          <p:cNvSpPr txBox="1">
            <a:spLocks noGrp="1"/>
          </p:cNvSpPr>
          <p:nvPr>
            <p:ph type="body" idx="13"/>
          </p:nvPr>
        </p:nvSpPr>
        <p:spPr>
          <a:xfrm>
            <a:off x="3221021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221021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221021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6130343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15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3394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2102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13034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221021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0339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221021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130339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5707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2681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860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90294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Ic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339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 (No Ba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5574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444875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22810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For Explanati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868214" y="0"/>
            <a:ext cx="4275786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42603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42633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6138179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138179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648068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32577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38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 b="1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egoe UI"/>
              <a:defRPr sz="1800"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1700" y="4880734"/>
            <a:ext cx="19549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SG" sz="80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69" r:id="rId3"/>
    <p:sldLayoutId id="2147483701" r:id="rId4"/>
    <p:sldLayoutId id="2147483660" r:id="rId5"/>
    <p:sldLayoutId id="2147483674" r:id="rId6"/>
    <p:sldLayoutId id="2147483692" r:id="rId7"/>
    <p:sldLayoutId id="2147483672" r:id="rId8"/>
    <p:sldLayoutId id="2147483681" r:id="rId9"/>
    <p:sldLayoutId id="2147483696" r:id="rId10"/>
    <p:sldLayoutId id="2147483699" r:id="rId11"/>
    <p:sldLayoutId id="2147483686" r:id="rId12"/>
    <p:sldLayoutId id="2147483698" r:id="rId13"/>
    <p:sldLayoutId id="2147483697" r:id="rId14"/>
    <p:sldLayoutId id="2147483687" r:id="rId15"/>
    <p:sldLayoutId id="2147483700" r:id="rId16"/>
    <p:sldLayoutId id="2147483665" r:id="rId17"/>
    <p:sldLayoutId id="2147483689" r:id="rId18"/>
    <p:sldLayoutId id="2147483693" r:id="rId19"/>
    <p:sldLayoutId id="2147483691" r:id="rId20"/>
    <p:sldLayoutId id="2147483662" r:id="rId21"/>
    <p:sldLayoutId id="2147483668" r:id="rId22"/>
    <p:sldLayoutId id="2147483670" r:id="rId23"/>
    <p:sldLayoutId id="2147483695" r:id="rId24"/>
    <p:sldLayoutId id="2147483679" r:id="rId25"/>
    <p:sldLayoutId id="2147483694" r:id="rId26"/>
    <p:sldLayoutId id="2147483671" r:id="rId27"/>
    <p:sldLayoutId id="2147483680" r:id="rId28"/>
    <p:sldLayoutId id="2147483677" r:id="rId29"/>
    <p:sldLayoutId id="2147483690" r:id="rId30"/>
    <p:sldLayoutId id="2147483678" r:id="rId31"/>
    <p:sldLayoutId id="2147483666" r:id="rId32"/>
    <p:sldLayoutId id="2147483688" r:id="rId33"/>
    <p:sldLayoutId id="2147483667" r:id="rId3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1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Problem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71343" y="1856356"/>
            <a:ext cx="5555700" cy="148536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1. What are the factors affecting prices of residential properties in Singapore?</a:t>
            </a:r>
          </a:p>
          <a:p>
            <a:r>
              <a:rPr lang="en-GB" dirty="0">
                <a:solidFill>
                  <a:schemeClr val="tx1"/>
                </a:solidFill>
              </a:rPr>
              <a:t>2. Are there ways to curb housing prices inflation?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585FE9-F236-43F0-85F1-32BF4936BCE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686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8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available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2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55494" y="1097320"/>
            <a:ext cx="5555700" cy="38033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Resale flat price data from HDB dating from Jan 1990 to Sept 2020, with about 800k entries.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dirty="0">
                <a:solidFill>
                  <a:schemeClr val="tx1"/>
                </a:solidFill>
              </a:rPr>
              <a:t>Examples of information included: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Year and month the transaction was approved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area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 type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Remaining lease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Resale price and others.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&lt;</a:t>
            </a:r>
            <a:r>
              <a:rPr lang="en-US" dirty="0"/>
              <a:t>Please provide a data dictionary and a sample set of the data</a:t>
            </a:r>
            <a:r>
              <a:rPr lang="en-US" b="1" dirty="0"/>
              <a:t>*</a:t>
            </a:r>
            <a:r>
              <a:rPr lang="en-SG" dirty="0"/>
              <a:t>&gt;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108BB-ADA2-429F-963F-FFB35276F2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7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Proposed solutions</a:t>
            </a:r>
            <a:endParaRPr lang="en-SG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3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276600" y="1214707"/>
            <a:ext cx="5555700" cy="30940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will be using the </a:t>
            </a:r>
            <a:r>
              <a:rPr lang="en-US" b="1" dirty="0">
                <a:solidFill>
                  <a:schemeClr val="tx1"/>
                </a:solidFill>
              </a:rPr>
              <a:t>independent variables </a:t>
            </a:r>
            <a:r>
              <a:rPr lang="en-US" dirty="0">
                <a:solidFill>
                  <a:schemeClr val="tx1"/>
                </a:solidFill>
              </a:rPr>
              <a:t>(e.g. (floor area, flat type, remaining lease) to predict the </a:t>
            </a:r>
            <a:r>
              <a:rPr lang="en-US" b="1" dirty="0">
                <a:solidFill>
                  <a:schemeClr val="tx1"/>
                </a:solidFill>
              </a:rPr>
              <a:t>dependent variable </a:t>
            </a:r>
            <a:r>
              <a:rPr lang="en-US" dirty="0">
                <a:solidFill>
                  <a:schemeClr val="tx1"/>
                </a:solidFill>
              </a:rPr>
              <a:t>(resale price) of HDBs.</a:t>
            </a:r>
            <a:endParaRPr lang="en-US" b="1" dirty="0">
              <a:solidFill>
                <a:schemeClr val="tx1"/>
              </a:solidFill>
            </a:endParaRPr>
          </a:p>
          <a:p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Regression models: </a:t>
            </a:r>
            <a:r>
              <a:rPr lang="en-US" dirty="0">
                <a:solidFill>
                  <a:schemeClr val="tx1"/>
                </a:solidFill>
              </a:rPr>
              <a:t>Linear, Ridge and Lasso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b="1" dirty="0">
                <a:solidFill>
                  <a:schemeClr val="tx1"/>
                </a:solidFill>
              </a:rPr>
              <a:t>Tree-based model: </a:t>
            </a:r>
            <a:r>
              <a:rPr lang="en-SG" dirty="0">
                <a:solidFill>
                  <a:schemeClr val="tx1"/>
                </a:solidFill>
              </a:rPr>
              <a:t>Decision tree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E714D-EDCF-2999-BD45-45F82EB1B0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FC4E-7499-EF20-B3DC-B688A8FA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8B0662-7993-27F7-B3E1-BB4B80B0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EEFCB-4C0B-3FF3-016F-7A621040D253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4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97923B-D789-A47E-FA47-1AE11AB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5494" y="1097320"/>
            <a:ext cx="5555700" cy="3803308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Standardisation</a:t>
            </a:r>
            <a:r>
              <a:rPr lang="en-US" dirty="0">
                <a:solidFill>
                  <a:schemeClr val="tx1"/>
                </a:solidFill>
              </a:rPr>
              <a:t> of entries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Examples: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Flat Type: All entries to be </a:t>
            </a:r>
            <a:r>
              <a:rPr lang="en-US" dirty="0" err="1">
                <a:solidFill>
                  <a:schemeClr val="tx1"/>
                </a:solidFill>
              </a:rPr>
              <a:t>standardised</a:t>
            </a:r>
            <a:r>
              <a:rPr lang="en-US" dirty="0">
                <a:solidFill>
                  <a:schemeClr val="tx1"/>
                </a:solidFill>
              </a:rPr>
              <a:t> (e.g. 'multi generation’ -&gt; 'multi-generation’)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Flat Model: All entries to be in upper case (e.g. </a:t>
            </a:r>
            <a:r>
              <a:rPr lang="en-SG" dirty="0">
                <a:solidFill>
                  <a:schemeClr val="tx1"/>
                </a:solidFill>
              </a:rPr>
              <a:t>'Premium Apartment’ -&gt; 'PREMIUM APARTMENT’)</a:t>
            </a:r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DB2DA6-D586-5712-AFCE-395A0C6BDB3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D67C-D59D-5865-B43F-FABD235D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A6605F-1EF6-70A0-758F-0C9F3CDF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9F1B3-83A2-556B-7A7B-834CA23B764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5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1BE0DF-89B9-62BE-CCF0-00693604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166" y="956003"/>
            <a:ext cx="6449976" cy="3263596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Standardisation</a:t>
            </a:r>
            <a:r>
              <a:rPr lang="en-US" dirty="0">
                <a:solidFill>
                  <a:schemeClr val="tx1"/>
                </a:solidFill>
              </a:rPr>
              <a:t> (to have 0 mean and 1 variance) of </a:t>
            </a:r>
            <a:r>
              <a:rPr lang="en-US" b="1" dirty="0">
                <a:solidFill>
                  <a:schemeClr val="tx1"/>
                </a:solidFill>
              </a:rPr>
              <a:t>independent variables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SG" dirty="0">
                <a:solidFill>
                  <a:schemeClr val="tx1"/>
                </a:solidFill>
              </a:rPr>
              <a:t>Example: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br>
              <a:rPr lang="en-US" sz="1600" dirty="0">
                <a:solidFill>
                  <a:schemeClr val="tx1"/>
                </a:solidFill>
              </a:rPr>
            </a:b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833562-2E6D-FCBF-31BD-F19EE01D295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58" y="1453401"/>
            <a:ext cx="2412123" cy="24121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FC6817-30DC-ECEC-3C36-93D6BDD11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981" y="2006063"/>
            <a:ext cx="3084652" cy="2058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D17D01-1806-2D44-FF5F-33396119A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490" y="1996399"/>
            <a:ext cx="3084652" cy="20858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B1E60986-1FCC-4E5F-3B50-FA8B008AD385}"/>
              </a:ext>
            </a:extLst>
          </p:cNvPr>
          <p:cNvSpPr/>
          <p:nvPr/>
        </p:nvSpPr>
        <p:spPr>
          <a:xfrm>
            <a:off x="5575633" y="2842953"/>
            <a:ext cx="343029" cy="26600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E6F5-FFD2-8D97-B589-117540ECB966}"/>
              </a:ext>
            </a:extLst>
          </p:cNvPr>
          <p:cNvSpPr txBox="1"/>
          <p:nvPr/>
        </p:nvSpPr>
        <p:spPr>
          <a:xfrm>
            <a:off x="2638580" y="4168018"/>
            <a:ext cx="62171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Intuition: </a:t>
            </a:r>
            <a:r>
              <a:rPr lang="en-US" sz="1600" dirty="0" err="1">
                <a:solidFill>
                  <a:schemeClr val="tx1"/>
                </a:solidFill>
              </a:rPr>
              <a:t>Standardisation</a:t>
            </a:r>
            <a:r>
              <a:rPr lang="en-US" sz="1600" dirty="0">
                <a:solidFill>
                  <a:schemeClr val="tx1"/>
                </a:solidFill>
              </a:rPr>
              <a:t> puts all variables on the same scale, so no variable dominates the results just because it is measured in bigger numbers.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37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7363-DCB4-7956-B03B-4C9664C3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83CB86-8FD2-3795-8EF9-203E388D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1C8E9-B757-06E2-69A2-0B6C16D0F74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6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62820F-B8F1-CDB3-00AF-CCC109FDD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6854" y="1055892"/>
            <a:ext cx="6304390" cy="38033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Removal of inflation effects on </a:t>
            </a:r>
            <a:r>
              <a:rPr lang="en-US" b="1" dirty="0">
                <a:solidFill>
                  <a:schemeClr val="tx1"/>
                </a:solidFill>
              </a:rPr>
              <a:t>dependent variable </a:t>
            </a:r>
            <a:r>
              <a:rPr lang="en-US" dirty="0">
                <a:solidFill>
                  <a:schemeClr val="tx1"/>
                </a:solidFill>
              </a:rPr>
              <a:t>(resale price) by using the Resale Price Index provided by HDB.</a:t>
            </a:r>
          </a:p>
          <a:p>
            <a:pPr>
              <a:lnSpc>
                <a:spcPct val="100000"/>
              </a:lnSpc>
            </a:pPr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29E2B-ED0A-7AE3-8BCD-79BDC4F5453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" y="1461714"/>
            <a:ext cx="2412123" cy="24121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7AC7B6-A00C-3C85-DC9D-A1ACC1AC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854" y="1852421"/>
            <a:ext cx="6079946" cy="30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9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01A0-EA29-D622-CA2E-06EAD051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302ADA-819A-2C01-2D0B-6D4D4985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Performance of models</a:t>
            </a:r>
            <a:endParaRPr lang="en-SG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93D96-29C4-17F8-C7DA-88388CA6E40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7</a:t>
            </a:fld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FE3DE-9887-FBF3-438F-D37B308163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27" y="1428462"/>
            <a:ext cx="2412123" cy="241212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04E7CB-442D-D379-6FE2-8CF767EB7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09590"/>
              </p:ext>
            </p:extLst>
          </p:nvPr>
        </p:nvGraphicFramePr>
        <p:xfrm>
          <a:off x="2586671" y="1644650"/>
          <a:ext cx="6096000" cy="185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829747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38397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01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0.837334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30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Ridge regression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0.837333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33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Lasso regression</a:t>
                      </a:r>
                      <a:endParaRPr lang="en-SG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0.837330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3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egoe UI"/>
                        </a:rPr>
                        <a:t>0.752846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30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73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FDEB-6D24-35C4-5E0A-747DAE46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7081D-72E0-916E-0271-B72C1E7E998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8</a:t>
            </a:fld>
            <a:endParaRPr lang="en-SG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10D7A2-E8CD-A9CE-21FF-E14877FDE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36026"/>
              </p:ext>
            </p:extLst>
          </p:nvPr>
        </p:nvGraphicFramePr>
        <p:xfrm>
          <a:off x="311700" y="101228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B975C064-100D-EA9D-F2B1-1B3F1499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7216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Regression Identifies: Top Drivers of Price Increases</a:t>
            </a:r>
            <a:br>
              <a:rPr lang="en-US" sz="2000" b="0" dirty="0"/>
            </a:br>
            <a:r>
              <a:rPr lang="en-US" sz="2000" b="0" dirty="0"/>
              <a:t>Flat Model (Terrace, Type S2, Type S1) and Marine Parade Location</a:t>
            </a:r>
            <a:br>
              <a:rPr lang="en-SG" dirty="0"/>
            </a:b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AD27E-BA44-0991-3222-8324F5368BC5}"/>
              </a:ext>
            </a:extLst>
          </p:cNvPr>
          <p:cNvSpPr txBox="1"/>
          <p:nvPr/>
        </p:nvSpPr>
        <p:spPr>
          <a:xfrm>
            <a:off x="5872123" y="1217191"/>
            <a:ext cx="32718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SG" dirty="0"/>
              <a:t>Property being a terrace leads to an </a:t>
            </a:r>
          </a:p>
          <a:p>
            <a:pPr latinLnBrk="1"/>
            <a:r>
              <a:rPr lang="en-SG" b="1" dirty="0"/>
              <a:t>increase</a:t>
            </a:r>
            <a:r>
              <a:rPr lang="en-SG" dirty="0"/>
              <a:t> of </a:t>
            </a:r>
            <a:r>
              <a:rPr lang="en-SG" b="1" dirty="0"/>
              <a:t>$148,925 </a:t>
            </a:r>
            <a:r>
              <a:rPr lang="en-SG" dirty="0"/>
              <a:t>in </a:t>
            </a:r>
          </a:p>
          <a:p>
            <a:pPr latinLnBrk="1"/>
            <a:r>
              <a:rPr lang="en-SG" dirty="0"/>
              <a:t>adjusted resale price.</a:t>
            </a:r>
          </a:p>
        </p:txBody>
      </p:sp>
    </p:spTree>
    <p:extLst>
      <p:ext uri="{BB962C8B-B14F-4D97-AF65-F5344CB8AC3E}">
        <p14:creationId xmlns:p14="http://schemas.microsoft.com/office/powerpoint/2010/main" val="118304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68E6-712A-EFE9-867F-EE45E230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FAC91-D71D-653C-6BCC-D583E13D226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9</a:t>
            </a:fld>
            <a:endParaRPr lang="en-SG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054BF19-55D1-41E4-21F2-118FE3B00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445439"/>
              </p:ext>
            </p:extLst>
          </p:nvPr>
        </p:nvGraphicFramePr>
        <p:xfrm>
          <a:off x="311700" y="101228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294096DA-2542-D23E-01BE-CA2F127F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7216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Regression Identifies: Top Drivers of Price Decreases</a:t>
            </a:r>
            <a:br>
              <a:rPr lang="en-US" sz="2000" b="0" dirty="0"/>
            </a:br>
            <a:r>
              <a:rPr lang="en-US" sz="2000" b="0" dirty="0"/>
              <a:t>Flat Type (1 room flat, 2 room flat) and Sembawang Location</a:t>
            </a:r>
            <a:br>
              <a:rPr lang="en-SG" dirty="0"/>
            </a:b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8CB6A-6764-3432-083F-23658D8282DC}"/>
              </a:ext>
            </a:extLst>
          </p:cNvPr>
          <p:cNvSpPr txBox="1"/>
          <p:nvPr/>
        </p:nvSpPr>
        <p:spPr>
          <a:xfrm>
            <a:off x="6131625" y="1273195"/>
            <a:ext cx="28999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SG" dirty="0"/>
              <a:t>Absolute values presented.</a:t>
            </a:r>
          </a:p>
          <a:p>
            <a:pPr latinLnBrk="1"/>
            <a:r>
              <a:rPr lang="en-SG" dirty="0"/>
              <a:t>Property being a 1 room flat leads to a </a:t>
            </a:r>
            <a:r>
              <a:rPr lang="en-SG" b="1" dirty="0"/>
              <a:t>decrease</a:t>
            </a:r>
            <a:r>
              <a:rPr lang="en-SG" dirty="0"/>
              <a:t> of </a:t>
            </a:r>
            <a:r>
              <a:rPr lang="en-SG" b="1" dirty="0"/>
              <a:t>$118,021 </a:t>
            </a:r>
            <a:r>
              <a:rPr lang="en-SG" dirty="0"/>
              <a:t>in </a:t>
            </a:r>
          </a:p>
          <a:p>
            <a:pPr latinLnBrk="1"/>
            <a:r>
              <a:rPr lang="en-SG" dirty="0"/>
              <a:t>adjusted resale price.</a:t>
            </a:r>
          </a:p>
        </p:txBody>
      </p:sp>
    </p:spTree>
    <p:extLst>
      <p:ext uri="{BB962C8B-B14F-4D97-AF65-F5344CB8AC3E}">
        <p14:creationId xmlns:p14="http://schemas.microsoft.com/office/powerpoint/2010/main" val="267991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9D6F-C1C9-D361-1939-44AD361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3891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Decision Tree Reveals: Floor Area Drives Price Segmentation</a:t>
            </a:r>
            <a:endParaRPr lang="en-SG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F2D1B-A8E4-E45A-CD66-6705CB98E91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10</a:t>
            </a:fld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FD738-6102-BC03-196B-3C846EB9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3" y="1003954"/>
            <a:ext cx="7994073" cy="353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8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Further exploration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11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276600" y="1214706"/>
            <a:ext cx="5555700" cy="3764617"/>
          </a:xfrm>
        </p:spPr>
        <p:txBody>
          <a:bodyPr/>
          <a:lstStyle/>
          <a:p>
            <a:r>
              <a:rPr lang="en-SG" sz="1600" b="1" dirty="0">
                <a:solidFill>
                  <a:schemeClr val="tx1"/>
                </a:solidFill>
              </a:rPr>
              <a:t>Data: </a:t>
            </a:r>
            <a:r>
              <a:rPr lang="en-US" sz="1600" dirty="0">
                <a:solidFill>
                  <a:schemeClr val="tx1"/>
                </a:solidFill>
              </a:rPr>
              <a:t>Include crucial predictors of resale prices (e.g. distance to the MRT stations, markets and schools).</a:t>
            </a:r>
            <a:endParaRPr lang="en-SG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Models: </a:t>
            </a:r>
            <a:r>
              <a:rPr lang="en-US" sz="1600" dirty="0">
                <a:solidFill>
                  <a:schemeClr val="tx1"/>
                </a:solidFill>
              </a:rPr>
              <a:t>Upgrade to Random Forests (from decision trees)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i="1" dirty="0">
                <a:solidFill>
                  <a:schemeClr val="tx1"/>
                </a:solidFill>
              </a:rPr>
              <a:t>Builds on decision trees by creating hundreds of trees, then averages their predictions for more reliable results.</a:t>
            </a:r>
            <a:br>
              <a:rPr lang="en-US" sz="1600" i="1" dirty="0">
                <a:solidFill>
                  <a:schemeClr val="tx1"/>
                </a:solidFill>
              </a:rPr>
            </a:br>
            <a:br>
              <a:rPr lang="en-US" sz="1600" i="1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Intuition: Each tree spots patterns slightly differently (using random samples), so averaging them cancels out errors - like asking many experts for their opinion, then taking the consensus.</a:t>
            </a:r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2798A-B6B9-43C0-ABF4-5C3C5615D0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35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10.0&quot;&gt;&lt;object type=&quot;1&quot; unique_id=&quot;10001&quot;&gt;&lt;object type=&quot;2&quot; unique_id=&quot;49974&quot;&gt;&lt;object type=&quot;3&quot; unique_id=&quot;49991&quot;&gt;&lt;property id=&quot;20148&quot; value=&quot;5&quot;/&gt;&lt;property id=&quot;20300&quot; value=&quot;Slide 12&quot;/&gt;&lt;property id=&quot;20307&quot; value=&quot;516&quot;/&gt;&lt;/object&gt;&lt;object type=&quot;3&quot; unique_id=&quot;49992&quot;&gt;&lt;property id=&quot;20148&quot; value=&quot;5&quot;/&gt;&lt;property id=&quot;20300&quot; value=&quot;Slide 10&quot;/&gt;&lt;property id=&quot;20307&quot; value=&quot;515&quot;/&gt;&lt;/object&gt;&lt;object type=&quot;3&quot; unique_id=&quot;50000&quot;&gt;&lt;property id=&quot;20148&quot; value=&quot;5&quot;/&gt;&lt;property id=&quot;20300&quot; value=&quot;Slide 18 - &amp;quot;Data Science Fundamentals&amp;quot;&quot;/&gt;&lt;property id=&quot;20307&quot; value=&quot;274&quot;/&gt;&lt;/object&gt;&lt;object type=&quot;3&quot; unique_id=&quot;50033&quot;&gt;&lt;property id=&quot;20148&quot; value=&quot;5&quot;/&gt;&lt;property id=&quot;20300&quot; value=&quot;Slide 86 - &amp;quot;Problem Scoping&amp;quot;&quot;/&gt;&lt;property id=&quot;20307&quot; value=&quot;344&quot;/&gt;&lt;/object&gt;&lt;object type=&quot;3&quot; unique_id=&quot;50034&quot;&gt;&lt;property id=&quot;20148&quot; value=&quot;5&quot;/&gt;&lt;property id=&quot;20300&quot; value=&quot;Slide 87 - &amp;quot;Who’s Involved&amp;quot;&quot;/&gt;&lt;property id=&quot;20307&quot; value=&quot;526&quot;/&gt;&lt;/object&gt;&lt;object type=&quot;3&quot; unique_id=&quot;50035&quot;&gt;&lt;property id=&quot;20148&quot; value=&quot;5&quot;/&gt;&lt;property id=&quot;20300&quot; value=&quot;Slide 88 - &amp;quot;Phases Of A Data Science Project&amp;quot;&quot;/&gt;&lt;property id=&quot;20307&quot; value=&quot;527&quot;/&gt;&lt;/object&gt;&lt;object type=&quot;3&quot; unique_id=&quot;50036&quot;&gt;&lt;property id=&quot;20148&quot; value=&quot;5&quot;/&gt;&lt;property id=&quot;20300&quot; value=&quot;Slide 91 - &amp;quot;Phases Of A Data Science Project&amp;quot;&quot;/&gt;&lt;property id=&quot;20307&quot; value=&quot;528&quot;/&gt;&lt;/object&gt;&lt;object type=&quot;3&quot; unique_id=&quot;50037&quot;&gt;&lt;property id=&quot;20148&quot; value=&quot;5&quot;/&gt;&lt;property id=&quot;20300&quot; value=&quot;Slide 92 - &amp;quot;Phases Of A Data Science Project&amp;quot;&quot;/&gt;&lt;property id=&quot;20307&quot; value=&quot;529&quot;/&gt;&lt;/object&gt;&lt;object type=&quot;3&quot; unique_id=&quot;50038&quot;&gt;&lt;property id=&quot;20148&quot; value=&quot;5&quot;/&gt;&lt;property id=&quot;20300&quot; value=&quot;Slide 93 - &amp;quot;What Is The Question?&amp;quot;&quot;/&gt;&lt;property id=&quot;20307&quot; value=&quot;308&quot;/&gt;&lt;/object&gt;&lt;object type=&quot;3&quot; unique_id=&quot;50039&quot;&gt;&lt;property id=&quot;20148&quot; value=&quot;5&quot;/&gt;&lt;property id=&quot;20300&quot; value=&quot;Slide 94 - &amp;quot;What Makes A Good Data Science Project?&amp;quot;&quot;/&gt;&lt;property id=&quot;20307&quot; value=&quot;347&quot;/&gt;&lt;/object&gt;&lt;object type=&quot;3&quot; unique_id=&quot;50040&quot;&gt;&lt;property id=&quot;20148&quot; value=&quot;5&quot;/&gt;&lt;property id=&quot;20300&quot; value=&quot;Slide 95 - &amp;quot;A Bad Example on “Improving Health”&amp;quot;&quot;/&gt;&lt;property id=&quot;20307&quot; value=&quot;359&quot;/&gt;&lt;/object&gt;&lt;object type=&quot;3&quot; unique_id=&quot;50041&quot;&gt;&lt;property id=&quot;20148&quot; value=&quot;5&quot;/&gt;&lt;property id=&quot;20300&quot; value=&quot;Slide 96 - &amp;quot;Higher Confidence To Proceed With Project&amp;quot;&quot;/&gt;&lt;property id=&quot;20307&quot; value=&quot;530&quot;/&gt;&lt;/object&gt;&lt;object type=&quot;3&quot; unique_id=&quot;50042&quot;&gt;&lt;property id=&quot;20148&quot; value=&quot;5&quot;/&gt;&lt;property id=&quot;20300&quot; value=&quot;Slide 97 - &amp;quot;Leading Questions&amp;quot;&quot;/&gt;&lt;property id=&quot;20307&quot; value=&quot;371&quot;/&gt;&lt;/object&gt;&lt;object type=&quot;3&quot; unique_id=&quot;50043&quot;&gt;&lt;property id=&quot;20148&quot; value=&quot;5&quot;/&gt;&lt;property id=&quot;20300&quot; value=&quot;Slide 100 - &amp;quot;Leading Questions&amp;quot;&quot;/&gt;&lt;property id=&quot;20307&quot; value=&quot;374&quot;/&gt;&lt;/object&gt;&lt;object type=&quot;3&quot; unique_id=&quot;50046&quot;&gt;&lt;property id=&quot;20148&quot; value=&quot;5&quot;/&gt;&lt;property id=&quot;20300&quot; value=&quot;Slide 106 - &amp;quot;Leading Questions&amp;quot;&quot;/&gt;&lt;property id=&quot;20307&quot; value=&quot;377&quot;/&gt;&lt;/object&gt;&lt;object type=&quot;3&quot; unique_id=&quot;50047&quot;&gt;&lt;property id=&quot;20148&quot; value=&quot;5&quot;/&gt;&lt;property id=&quot;20300&quot; value=&quot;Slide 111&quot;/&gt;&lt;property id=&quot;20307&quot; value=&quot;531&quot;/&gt;&lt;/object&gt;&lt;object type=&quot;3&quot; unique_id=&quot;53117&quot;&gt;&lt;property id=&quot;20148&quot; value=&quot;5&quot;/&gt;&lt;property id=&quot;20300&quot; value=&quot;Slide 9&quot;/&gt;&lt;property id=&quot;20307&quot; value=&quot;548&quot;/&gt;&lt;/object&gt;&lt;object type=&quot;3&quot; unique_id=&quot;53119&quot;&gt;&lt;property id=&quot;20148&quot; value=&quot;5&quot;/&gt;&lt;property id=&quot;20300&quot; value=&quot;Slide 14&quot;/&gt;&lt;property id=&quot;20307&quot; value=&quot;550&quot;/&gt;&lt;/object&gt;&lt;object type=&quot;3&quot; unique_id=&quot;53120&quot;&gt;&lt;property id=&quot;20148&quot; value=&quot;5&quot;/&gt;&lt;property id=&quot;20300&quot; value=&quot;Slide 8&quot;/&gt;&lt;property id=&quot;20307&quot; value=&quot;551&quot;/&gt;&lt;/object&gt;&lt;object type=&quot;3&quot; unique_id=&quot;53123&quot;&gt;&lt;property id=&quot;20148&quot; value=&quot;5&quot;/&gt;&lt;property id=&quot;20300&quot; value=&quot;Slide 47 - &amp;quot;Machine Learning Applications &amp;amp; Techniques&amp;quot;&quot;/&gt;&lt;property id=&quot;20307&quot; value=&quot;554&quot;/&gt;&lt;/object&gt;&lt;object type=&quot;3&quot; unique_id=&quot;53140&quot;&gt;&lt;property id=&quot;20148&quot; value=&quot;5&quot;/&gt;&lt;property id=&quot;20300&quot; value=&quot;Slide 13&quot;/&gt;&lt;property id=&quot;20307&quot; value=&quot;574&quot;/&gt;&lt;/object&gt;&lt;object type=&quot;3&quot; unique_id=&quot;53145&quot;&gt;&lt;property id=&quot;20148&quot; value=&quot;5&quot;/&gt;&lt;property id=&quot;20300&quot; value=&quot;Slide 1 - &amp;quot;STARTING A_____ DATA SCIENCE PROJECT WORKSHOP&amp;quot;&quot;/&gt;&lt;property id=&quot;20307&quot; value=&quot;589&quot;/&gt;&lt;/object&gt;&lt;object type=&quot;3&quot; unique_id=&quot;53146&quot;&gt;&lt;property id=&quot;20148&quot; value=&quot;5&quot;/&gt;&lt;property id=&quot;20300&quot; value=&quot;Slide 2 - &amp;quot;Introduction&amp;quot;&quot;/&gt;&lt;property id=&quot;20307&quot; value=&quot;603&quot;/&gt;&lt;/object&gt;&lt;object type=&quot;3&quot; unique_id=&quot;53148&quot;&gt;&lt;property id=&quot;20148&quot; value=&quot;5&quot;/&gt;&lt;property id=&quot;20300&quot; value=&quot;Slide 5 - &amp;quot;Schedule&amp;quot;&quot;/&gt;&lt;property id=&quot;20307&quot; value=&quot;684&quot;/&gt;&lt;/object&gt;&lt;object type=&quot;3&quot; unique_id=&quot;53150&quot;&gt;&lt;property id=&quot;20148&quot; value=&quot;5&quot;/&gt;&lt;property id=&quot;20300&quot; value=&quot;Slide 6 - &amp;quot;How Is Analytics Used Across The World&amp;quot;&quot;/&gt;&lt;property id=&quot;20307&quot; value=&quot;605&quot;/&gt;&lt;/object&gt;&lt;object type=&quot;3&quot; unique_id=&quot;53151&quot;&gt;&lt;property id=&quot;20148&quot; value=&quot;5&quot;/&gt;&lt;property id=&quot;20300&quot; value=&quot;Slide 7 - &amp;quot;Every Day, Your Data Is Being Collected … &amp;quot;&quot;/&gt;&lt;property id=&quot;20307&quot; value=&quot;685&quot;/&gt;&lt;/object&gt;&lt;object type=&quot;3&quot; unique_id=&quot;53152&quot;&gt;&lt;property id=&quot;20148&quot; value=&quot;5&quot;/&gt;&lt;property id=&quot;20300&quot; value=&quot;Slide 11 - &amp;quot;Pushing Boundaries With Data Science&amp;quot;&quot;/&gt;&lt;property id=&quot;20307&quot; value=&quot;692&quot;/&gt;&lt;/object&gt;&lt;object type=&quot;3&quot; unique_id=&quot;53153&quot;&gt;&lt;property id=&quot;20148&quot; value=&quot;5&quot;/&gt;&lt;property id=&quot;20300&quot; value=&quot;Slide 15&quot;/&gt;&lt;property id=&quot;20307&quot; value=&quot;687&quot;/&gt;&lt;/object&gt;&lt;object type=&quot;3&quot; unique_id=&quot;53155&quot;&gt;&lt;property id=&quot;20148&quot; value=&quot;5&quot;/&gt;&lt;property id=&quot;20300&quot; value=&quot;Slide 16 - &amp;quot;How Can We Make Use Of Data Science  For The Public Good?&amp;quot;&quot;/&gt;&lt;property id=&quot;20307&quot; value=&quot;693&quot;/&gt;&lt;/object&gt;&lt;object type=&quot;3&quot; unique_id=&quot;53156&quot;&gt;&lt;property id=&quot;20148&quot; value=&quot;5&quot;/&gt;&lt;property id=&quot;20300&quot; value=&quot;Slide 19 - &amp;quot;What Is Data Science?&amp;quot;&quot;/&gt;&lt;property id=&quot;20307&quot; value=&quot;634&quot;/&gt;&lt;/object&gt;&lt;object type=&quot;3&quot; unique_id=&quot;53157&quot;&gt;&lt;property id=&quot;20148&quot; value=&quot;5&quot;/&gt;&lt;property id=&quot;20300&quot; value=&quot;Slide 20 - &amp;quot;Been A Long Time Coming&amp;quot;&quot;/&gt;&lt;property id=&quot;20307&quot; value=&quot;607&quot;/&gt;&lt;/object&gt;&lt;object type=&quot;3&quot; unique_id=&quot;53158&quot;&gt;&lt;property id=&quot;20148&quot; value=&quot;5&quot;/&gt;&lt;property id=&quot;20300&quot; value=&quot;Slide 21 - &amp;quot;Sexiest Job Of The Century&amp;quot;&quot;/&gt;&lt;property id=&quot;20307&quot; value=&quot;608&quot;/&gt;&lt;/object&gt;&lt;object type=&quot;3&quot; unique_id=&quot;53159&quot;&gt;&lt;property id=&quot;20148&quot; value=&quot;5&quot;/&gt;&lt;property id=&quot;20300&quot; value=&quot;Slide 22 - &amp;quot;Unicorns ... Do They Exist?&amp;quot;&quot;/&gt;&lt;property id=&quot;20307&quot; value=&quot;635&quot;/&gt;&lt;/object&gt;&lt;object type=&quot;3&quot; unique_id=&quot;53160&quot;&gt;&lt;property id=&quot;20148&quot; value=&quot;5&quot;/&gt;&lt;property id=&quot;20300&quot; value=&quot;Slide 23 - &amp;quot;Data Science Skill Sets&amp;quot;&quot;/&gt;&lt;property id=&quot;20307&quot; value=&quot;609&quot;/&gt;&lt;/object&gt;&lt;object type=&quot;3&quot; unique_id=&quot;53161&quot;&gt;&lt;property id=&quot;20148&quot; value=&quot;5&quot;/&gt;&lt;property id=&quot;20300&quot; value=&quot;Slide 24 - &amp;quot;In A Profit-Oriented Organisation: BI vs BA vs DS&amp;quot;&quot;/&gt;&lt;property id=&quot;20307&quot; value=&quot;688&quot;/&gt;&lt;/object&gt;&lt;object type=&quot;3&quot; unique_id=&quot;53162&quot;&gt;&lt;property id=&quot;20148&quot; value=&quot;5&quot;/&gt;&lt;property id=&quot;20300&quot; value=&quot;Slide 25 - &amp;quot;BI vs BA vs DS&amp;quot;&quot;/&gt;&lt;property id=&quot;20307&quot; value=&quot;636&quot;/&gt;&lt;/object&gt;&lt;object type=&quot;3&quot; unique_id=&quot;53163&quot;&gt;&lt;property id=&quot;20148&quot; value=&quot;5&quot;/&gt;&lt;property id=&quot;20300&quot; value=&quot;Slide 26 - &amp;quot;Types Of Data&amp;quot;&quot;/&gt;&lt;property id=&quot;20307&quot; value=&quot;678&quot;/&gt;&lt;/object&gt;&lt;object type=&quot;3&quot; unique_id=&quot;53164&quot;&gt;&lt;property id=&quot;20148&quot; value=&quot;5&quot;/&gt;&lt;property id=&quot;20300&quot; value=&quot;Slide 31 - &amp;quot;Types Of Data&amp;quot;&quot;/&gt;&lt;property id=&quot;20307&quot; value=&quot;676&quot;/&gt;&lt;/object&gt;&lt;object type=&quot;3&quot; unique_id=&quot;53165&quot;&gt;&lt;property id=&quot;20148&quot; value=&quot;5&quot;/&gt;&lt;property id=&quot;20300&quot; value=&quot;Slide 33 - &amp;quot;Data Format For Analysis&amp;quot;&quot;/&gt;&lt;property id=&quot;20307&quot; value=&quot;680&quot;/&gt;&lt;/object&gt;&lt;object type=&quot;3&quot; unique_id=&quot;53166&quot;&gt;&lt;property id=&quot;20148&quot; value=&quot;5&quot;/&gt;&lt;property id=&quot;20300&quot; value=&quot;Slide 34 - &amp;quot;Data Format For Analysis&amp;quot;&quot;/&gt;&lt;property id=&quot;20307&quot; value=&quot;679&quot;/&gt;&lt;/object&gt;&lt;object type=&quot;3&quot; unique_id=&quot;53167&quot;&gt;&lt;property id=&quot;20148&quot; value=&quot;5&quot;/&gt;&lt;property id=&quot;20300&quot; value=&quot;Slide 45 - &amp;quot;ML - Solving Problems Big, Small, and Prickly&amp;quot;&quot;/&gt;&lt;property id=&quot;20307&quot; value=&quot;615&quot;/&gt;&lt;/object&gt;&lt;object type=&quot;3&quot; unique_id=&quot;53172&quot;&gt;&lt;property id=&quot;20148&quot; value=&quot;5&quot;/&gt;&lt;property id=&quot;20300&quot; value=&quot;Slide 57 - &amp;quot;Logistic Regression&amp;quot;&quot;/&gt;&lt;property id=&quot;20307&quot; value=&quot;619&quot;/&gt;&lt;/object&gt;&lt;object type=&quot;3&quot; unique_id=&quot;53173&quot;&gt;&lt;property id=&quot;20148&quot; value=&quot;5&quot;/&gt;&lt;property id=&quot;20300&quot; value=&quot;Slide 58 - &amp;quot;Logistic Regression - Intuition&amp;quot;&quot;/&gt;&lt;property id=&quot;20307&quot; value=&quot;622&quot;/&gt;&lt;/object&gt;&lt;object type=&quot;3&quot; unique_id=&quot;53174&quot;&gt;&lt;property id=&quot;20148&quot; value=&quot;5&quot;/&gt;&lt;property id=&quot;20300&quot; value=&quot;Slide 59 - &amp;quot;Logistic Regression - Intuition&amp;quot;&quot;/&gt;&lt;property id=&quot;20307&quot; value=&quot;620&quot;/&gt;&lt;/object&gt;&lt;object type=&quot;3&quot; unique_id=&quot;53175&quot;&gt;&lt;property id=&quot;20148&quot; value=&quot;5&quot;/&gt;&lt;property id=&quot;20300&quot; value=&quot;Slide 70 - &amp;quot;K-means Clustering&amp;quot;&quot;/&gt;&lt;property id=&quot;20307&quot; value=&quot;624&quot;/&gt;&lt;/object&gt;&lt;object type=&quot;3&quot; unique_id=&quot;53176&quot;&gt;&lt;property id=&quot;20148&quot; value=&quot;5&quot;/&gt;&lt;property id=&quot;20300&quot; value=&quot;Slide 71 - &amp;quot;K-means Clustering - Intuition&amp;quot;&quot;/&gt;&lt;property id=&quot;20307&quot; value=&quot;625&quot;/&gt;&lt;/object&gt;&lt;object type=&quot;3&quot; unique_id=&quot;53177&quot;&gt;&lt;property id=&quot;20148&quot; value=&quot;5&quot;/&gt;&lt;property id=&quot;20300&quot; value=&quot;Slide 72 - &amp;quot;K-means Clustering - Intuition&amp;quot;&quot;/&gt;&lt;property id=&quot;20307&quot; value=&quot;626&quot;/&gt;&lt;/object&gt;&lt;object type=&quot;3&quot; unique_id=&quot;53178&quot;&gt;&lt;property id=&quot;20148&quot; value=&quot;5&quot;/&gt;&lt;property id=&quot;20300&quot; value=&quot;Slide 73 - &amp;quot;K-means Clustering - Intuition&amp;quot;&quot;/&gt;&lt;property id=&quot;20307&quot; value=&quot;627&quot;/&gt;&lt;/object&gt;&lt;object type=&quot;3&quot; unique_id=&quot;53179&quot;&gt;&lt;property id=&quot;20148&quot; value=&quot;5&quot;/&gt;&lt;property id=&quot;20300&quot; value=&quot;Slide 74 - &amp;quot;K-means Clustering - Intuition&amp;quot;&quot;/&gt;&lt;property id=&quot;20307&quot; value=&quot;628&quot;/&gt;&lt;/object&gt;&lt;object type=&quot;3&quot; unique_id=&quot;53181&quot;&gt;&lt;property id=&quot;20148&quot; value=&quot;5&quot;/&gt;&lt;property id=&quot;20300&quot; value=&quot;Slide 76 - &amp;quot;Neural Network / Deep Learning&amp;quot;&quot;/&gt;&lt;property id=&quot;20307&quot; value=&quot;643&quot;/&gt;&lt;/object&gt;&lt;object type=&quot;3&quot; unique_id=&quot;53182&quot;&gt;&lt;property id=&quot;20148&quot; value=&quot;5&quot;/&gt;&lt;property id=&quot;20300&quot; value=&quot;Slide 77 - &amp;quot;Neural Network / Deep Learning - Intuition&amp;quot;&quot;/&gt;&lt;property id=&quot;20307&quot; value=&quot;644&quot;/&gt;&lt;/object&gt;&lt;object type=&quot;3&quot; unique_id=&quot;53183&quot;&gt;&lt;property id=&quot;20148&quot; value=&quot;5&quot;/&gt;&lt;property id=&quot;20300&quot; value=&quot;Slide 78 - &amp;quot;Neural Network / Deep Learning - Intuition&amp;quot;&quot;/&gt;&lt;property id=&quot;20307&quot; value=&quot;645&quot;/&gt;&lt;/object&gt;&lt;object type=&quot;3&quot; unique_id=&quot;53184&quot;&gt;&lt;property id=&quot;20148&quot; value=&quot;5&quot;/&gt;&lt;property id=&quot;20300&quot; value=&quot;Slide 79 - &amp;quot;Neural Network / Deep Learning - Intuition&amp;quot;&quot;/&gt;&lt;property id=&quot;20307&quot; value=&quot;646&quot;/&gt;&lt;/object&gt;&lt;object type=&quot;3&quot; unique_id=&quot;53186&quot;&gt;&lt;property id=&quot;20148&quot; value=&quot;5&quot;/&gt;&lt;property id=&quot;20300&quot; value=&quot;Slide 80 - &amp;quot;Amazon Go&amp;quot;&quot;/&gt;&lt;property id=&quot;20307&quot; value=&quot;673&quot;/&gt;&lt;/object&gt;&lt;object type=&quot;3&quot; unique_id=&quot;53187&quot;&gt;&lt;property id=&quot;20148&quot; value=&quot;5&quot;/&gt;&lt;property id=&quot;20300&quot; value=&quot;Slide 81 - &amp;quot;What Machine Learning Can and Can’t Do&amp;quot;&quot;/&gt;&lt;property id=&quot;20307&quot; value=&quot;670&quot;/&gt;&lt;/object&gt;&lt;object type=&quot;3&quot; unique_id=&quot;53188&quot;&gt;&lt;property id=&quot;20148&quot; value=&quot;5&quot;/&gt;&lt;property id=&quot;20300&quot; value=&quot;Slide 89 - &amp;quot;Phases Of A Data Science Project&amp;quot;&quot;/&gt;&lt;property id=&quot;20307&quot; value=&quot;689&quot;/&gt;&lt;/object&gt;&lt;object type=&quot;3&quot; unique_id=&quot;53189&quot;&gt;&lt;property id=&quot;20148&quot; value=&quot;5&quot;/&gt;&lt;property id=&quot;20300&quot; value=&quot;Slide 90 - &amp;quot;Phases Of A Data Science Project&amp;quot;&quot;/&gt;&lt;property id=&quot;20307&quot; value=&quot;690&quot;/&gt;&lt;/object&gt;&lt;object type=&quot;3&quot; unique_id=&quot;53190&quot;&gt;&lt;property id=&quot;20148&quot; value=&quot;5&quot;/&gt;&lt;property id=&quot;20300&quot; value=&quot;Slide 99 - &amp;quot;Leading Questions&amp;quot;&quot;/&gt;&lt;property id=&quot;20307&quot; value=&quot;671&quot;/&gt;&lt;/object&gt;&lt;object type=&quot;3&quot; unique_id=&quot;53191&quot;&gt;&lt;property id=&quot;20148&quot; value=&quot;5&quot;/&gt;&lt;property id=&quot;20300&quot; value=&quot;Slide 101 - &amp;quot;Leading Questions&amp;quot;&quot;/&gt;&lt;property id=&quot;20307&quot; value=&quot;672&quot;/&gt;&lt;/object&gt;&lt;object type=&quot;3&quot; unique_id=&quot;53192&quot;&gt;&lt;property id=&quot;20148&quot; value=&quot;5&quot;/&gt;&lt;property id=&quot;20300&quot; value=&quot;Slide 102 - &amp;quot;Leading Questions&amp;quot;&quot;/&gt;&lt;property id=&quot;20307&quot; value=&quot;652&quot;/&gt;&lt;/object&gt;&lt;object type=&quot;3&quot; unique_id=&quot;53193&quot;&gt;&lt;property id=&quot;20148&quot; value=&quot;5&quot;/&gt;&lt;property id=&quot;20300&quot; value=&quot;Slide 104 - &amp;quot;Leading Questions&amp;quot;&quot;/&gt;&lt;property id=&quot;20307&quot; value=&quot;650&quot;/&gt;&lt;/object&gt;&lt;object type=&quot;3&quot; unique_id=&quot;53194&quot;&gt;&lt;property id=&quot;20148&quot; value=&quot;5&quot;/&gt;&lt;property id=&quot;20300&quot; value=&quot;Slide 105 - &amp;quot;Leading Questions&amp;quot;&quot;/&gt;&lt;property id=&quot;20307&quot; value=&quot;651&quot;/&gt;&lt;/object&gt;&lt;object type=&quot;3&quot; unique_id=&quot;53195&quot;&gt;&lt;property id=&quot;20148&quot; value=&quot;5&quot;/&gt;&lt;property id=&quot;20300&quot; value=&quot;Slide 107 - &amp;quot;Problem Scoping Cheat Sheet&amp;quot;&quot;/&gt;&lt;property id=&quot;20307&quot; value=&quot;647&quot;/&gt;&lt;/object&gt;&lt;object type=&quot;3&quot; unique_id=&quot;53196&quot;&gt;&lt;property id=&quot;20148&quot; value=&quot;5&quot;/&gt;&lt;property id=&quot;20300&quot; value=&quot;Slide 108 - &amp;quot;Problem Scoping Cheat Sheet&amp;quot;&quot;/&gt;&lt;property id=&quot;20307&quot; value=&quot;648&quot;/&gt;&lt;/object&gt;&lt;object type=&quot;3&quot; unique_id=&quot;53197&quot;&gt;&lt;property id=&quot;20148&quot; value=&quot;5&quot;/&gt;&lt;property id=&quot;20300&quot; value=&quot;Slide 109 - &amp;quot;Problem Scoping Cheat Sheet&amp;quot;&quot;/&gt;&lt;property id=&quot;20307&quot; value=&quot;649&quot;/&gt;&lt;/object&gt;&lt;object type=&quot;3&quot; unique_id=&quot;53198&quot;&gt;&lt;property id=&quot;20148&quot; value=&quot;5&quot;/&gt;&lt;property id=&quot;20300&quot; value=&quot;Slide 110 - &amp;quot;Reflection on Potential Projects In Your Agency&amp;quot;&quot;/&gt;&lt;property id=&quot;20307&quot; value=&quot;661&quot;/&gt;&lt;/object&gt;&lt;object type=&quot;3&quot; unique_id=&quot;53199&quot;&gt;&lt;property id=&quot;20148&quot; value=&quot;5&quot;/&gt;&lt;property id=&quot;20300&quot; value=&quot;Slide 112 - &amp;quot;Project Case Study – Country X&amp;quot;&quot;/&gt;&lt;property id=&quot;20307&quot; value=&quot;662&quot;/&gt;&lt;/object&gt;&lt;object type=&quot;3&quot; unique_id=&quot;53200&quot;&gt;&lt;property id=&quot;20148&quot; value=&quot;5&quot;/&gt;&lt;property id=&quot;20300&quot; value=&quot;Slide 113 - &amp;quot;The Problem Scenario&amp;quot;&quot;/&gt;&lt;property id=&quot;20307&quot; value=&quot;591&quot;/&gt;&lt;/object&gt;&lt;object type=&quot;3&quot; unique_id=&quot;53201&quot;&gt;&lt;property id=&quot;20148&quot; value=&quot;5&quot;/&gt;&lt;property id=&quot;20300&quot; value=&quot;Slide 114 - &amp;quot;The Problem Scenario&amp;quot;&quot;/&gt;&lt;property id=&quot;20307&quot; value=&quot;592&quot;/&gt;&lt;/object&gt;&lt;object type=&quot;3&quot; unique_id=&quot;53202&quot;&gt;&lt;property id=&quot;20148&quot; value=&quot;5&quot;/&gt;&lt;property id=&quot;20300&quot; value=&quot;Slide 115 - &amp;quot;The Problem Scenario&amp;quot;&quot;/&gt;&lt;property id=&quot;20307&quot; value=&quot;593&quot;/&gt;&lt;/object&gt;&lt;object type=&quot;3&quot; unique_id=&quot;53203&quot;&gt;&lt;property id=&quot;20148&quot; value=&quot;5&quot;/&gt;&lt;property id=&quot;20300&quot; value=&quot;Slide 116 - &amp;quot;The Problem Scenario&amp;quot;&quot;/&gt;&lt;property id=&quot;20307&quot; value=&quot;594&quot;/&gt;&lt;/object&gt;&lt;object type=&quot;3&quot; unique_id=&quot;53204&quot;&gt;&lt;property id=&quot;20148&quot; value=&quot;5&quot;/&gt;&lt;property id=&quot;20300&quot; value=&quot;Slide 117 - &amp;quot;The Problem Scenario&amp;quot;&quot;/&gt;&lt;property id=&quot;20307&quot; value=&quot;595&quot;/&gt;&lt;/object&gt;&lt;object type=&quot;3&quot; unique_id=&quot;53205&quot;&gt;&lt;property id=&quot;20148&quot; value=&quot;5&quot;/&gt;&lt;property id=&quot;20300&quot; value=&quot;Slide 118 - &amp;quot;CSV File&amp;quot;&quot;/&gt;&lt;property id=&quot;20307&quot; value=&quot;590&quot;/&gt;&lt;/object&gt;&lt;object type=&quot;3&quot; unique_id=&quot;53206&quot;&gt;&lt;property id=&quot;20148&quot; value=&quot;5&quot;/&gt;&lt;property id=&quot;20300&quot; value=&quot;Slide 119 - &amp;quot;Initial Data Analysis And Insights&amp;quot;&quot;/&gt;&lt;property id=&quot;20307&quot; value=&quot;663&quot;/&gt;&lt;/object&gt;&lt;object type=&quot;3&quot; unique_id=&quot;53207&quot;&gt;&lt;property id=&quot;20148&quot; value=&quot;5&quot;/&gt;&lt;property id=&quot;20300&quot; value=&quot;Slide 120 - &amp;quot;Hands-On&amp;quot;&quot;/&gt;&lt;property id=&quot;20307&quot; value=&quot;596&quot;/&gt;&lt;/object&gt;&lt;object type=&quot;3&quot; unique_id=&quot;53208&quot;&gt;&lt;property id=&quot;20148&quot; value=&quot;5&quot;/&gt;&lt;property id=&quot;20300&quot; value=&quot;Slide 121 - &amp;quot;End Of Day 1&amp;quot;&quot;/&gt;&lt;property id=&quot;20307&quot; value=&quot;653&quot;/&gt;&lt;/object&gt;&lt;object type=&quot;3&quot; unique_id=&quot;55052&quot;&gt;&lt;property id=&quot;20148&quot; value=&quot;5&quot;/&gt;&lt;property id=&quot;20300&quot; value=&quot;Slide 3 - &amp;quot;Learning Outcomes&amp;quot;&quot;/&gt;&lt;property id=&quot;20307&quot; value=&quot;718&quot;/&gt;&lt;/object&gt;&lt;object type=&quot;3&quot; unique_id=&quot;55053&quot;&gt;&lt;property id=&quot;20148&quot; value=&quot;5&quot;/&gt;&lt;property id=&quot;20300&quot; value=&quot;Slide 4 - &amp;quot;Learning Outcomes&amp;quot;&quot;/&gt;&lt;property id=&quot;20307&quot; value=&quot;719&quot;/&gt;&lt;/object&gt;&lt;object type=&quot;3&quot; unique_id=&quot;55054&quot;&gt;&lt;property id=&quot;20148&quot; value=&quot;5&quot;/&gt;&lt;property id=&quot;20300&quot; value=&quot;Slide 17 - &amp;quot;Data Science Across WOG&amp;quot;&quot;/&gt;&lt;property id=&quot;20307&quot; value=&quot;715&quot;/&gt;&lt;/object&gt;&lt;object type=&quot;3&quot; unique_id=&quot;55055&quot;&gt;&lt;property id=&quot;20148&quot; value=&quot;5&quot;/&gt;&lt;property id=&quot;20300&quot; value=&quot;Slide 27 - &amp;quot;Types Of Data&amp;quot;&quot;/&gt;&lt;property id=&quot;20307&quot; value=&quot;753&quot;/&gt;&lt;/object&gt;&lt;object type=&quot;3&quot; unique_id=&quot;55056&quot;&gt;&lt;property id=&quot;20148&quot; value=&quot;5&quot;/&gt;&lt;property id=&quot;20300&quot; value=&quot;Slide 28 - &amp;quot;Types Of Data&amp;quot;&quot;/&gt;&lt;property id=&quot;20307&quot; value=&quot;700&quot;/&gt;&lt;/object&gt;&lt;object type=&quot;3&quot; unique_id=&quot;55057&quot;&gt;&lt;property id=&quot;20148&quot; value=&quot;5&quot;/&gt;&lt;property id=&quot;20300&quot; value=&quot;Slide 29 - &amp;quot;Types Of Data&amp;quot;&quot;/&gt;&lt;property id=&quot;20307&quot; value=&quot;752&quot;/&gt;&lt;/object&gt;&lt;object type=&quot;3&quot; unique_id=&quot;55058&quot;&gt;&lt;property id=&quot;20148&quot; value=&quot;5&quot;/&gt;&lt;property id=&quot;20300&quot; value=&quot;Slide 30 - &amp;quot;Types Of Data&amp;quot;&quot;/&gt;&lt;property id=&quot;20307&quot; value=&quot;731&quot;/&gt;&lt;/object&gt;&lt;object type=&quot;3&quot; unique_id=&quot;55059&quot;&gt;&lt;property id=&quot;20148&quot; value=&quot;5&quot;/&gt;&lt;property id=&quot;20300&quot; value=&quot;Slide 32 - &amp;quot;Data Analysis&amp;quot;&quot;/&gt;&lt;property id=&quot;20307&quot; value=&quot;716&quot;/&gt;&lt;/object&gt;&lt;object type=&quot;3&quot; unique_id=&quot;55060&quot;&gt;&lt;property id=&quot;20148&quot; value=&quot;5&quot;/&gt;&lt;property id=&quot;20300&quot; value=&quot;Slide 35 - &amp;quot;Data Analysis (e.g. Circle Line Rogue Train)&amp;quot;&quot;/&gt;&lt;property id=&quot;20307&quot; value=&quot;721&quot;/&gt;&lt;/object&gt;&lt;object type=&quot;3&quot; unique_id=&quot;55061&quot;&gt;&lt;property id=&quot;20148&quot; value=&quot;5&quot;/&gt;&lt;property id=&quot;20300&quot; value=&quot;Slide 36 - &amp;quot;Data Analysis (e.g. Circle Line Rogue Train)&amp;quot;&quot;/&gt;&lt;property id=&quot;20307&quot; value=&quot;736&quot;/&gt;&lt;/object&gt;&lt;object type=&quot;3&quot; unique_id=&quot;55062&quot;&gt;&lt;property id=&quot;20148&quot; value=&quot;5&quot;/&gt;&lt;property id=&quot;20300&quot; value=&quot;Slide 37 - &amp;quot;Data Analysis (e.g. Circle Line Rogue Train)&amp;quot;&quot;/&gt;&lt;property id=&quot;20307&quot; value=&quot;723&quot;/&gt;&lt;/object&gt;&lt;object type=&quot;3&quot; unique_id=&quot;55063&quot;&gt;&lt;property id=&quot;20148&quot; value=&quot;5&quot;/&gt;&lt;property id=&quot;20300&quot; value=&quot;Slide 38 - &amp;quot;Data Analysis (e.g. Circle Line Rogue Train)&amp;quot;&quot;/&gt;&lt;property id=&quot;20307&quot; value=&quot;724&quot;/&gt;&lt;/object&gt;&lt;object type=&quot;3&quot; unique_id=&quot;55064&quot;&gt;&lt;property id=&quot;20148&quot; value=&quot;5&quot;/&gt;&lt;property id=&quot;20300&quot; value=&quot;Slide 39 - &amp;quot;Data Analysis (e.g. Circle Line Rogue Train)&amp;quot;&quot;/&gt;&lt;property id=&quot;20307&quot; value=&quot;725&quot;/&gt;&lt;/object&gt;&lt;object type=&quot;3&quot; unique_id=&quot;55065&quot;&gt;&lt;property id=&quot;20148&quot; value=&quot;5&quot;/&gt;&lt;property id=&quot;20300&quot; value=&quot;Slide 40 - &amp;quot;Data Analysis (e.g. Circle Line Rogue Train)&amp;quot;&quot;/&gt;&lt;property id=&quot;20307&quot; value=&quot;726&quot;/&gt;&lt;/object&gt;&lt;object type=&quot;3&quot; unique_id=&quot;55066&quot;&gt;&lt;property id=&quot;20148&quot; value=&quot;5&quot;/&gt;&lt;property id=&quot;20300&quot; value=&quot;Slide 41 - &amp;quot;Data Analysis (e.g. Circle Line Rogue Train)&amp;quot;&quot;/&gt;&lt;property id=&quot;20307&quot; value=&quot;727&quot;/&gt;&lt;/object&gt;&lt;object type=&quot;3&quot; unique_id=&quot;55067&quot;&gt;&lt;property id=&quot;20148&quot; value=&quot;5&quot;/&gt;&lt;property id=&quot;20300&quot; value=&quot;Slide 42 - &amp;quot;Data Analysis (e.g. Circle Line Rogue Train)&amp;quot;&quot;/&gt;&lt;property id=&quot;20307&quot; value=&quot;728&quot;/&gt;&lt;/object&gt;&lt;object type=&quot;3&quot; unique_id=&quot;55068&quot;&gt;&lt;property id=&quot;20148&quot; value=&quot;5&quot;/&gt;&lt;property id=&quot;20300&quot; value=&quot;Slide 43 - &amp;quot;Data Analysis (e.g. Circle Line Rogue Train)&amp;quot;&quot;/&gt;&lt;property id=&quot;20307&quot; value=&quot;729&quot;/&gt;&lt;/object&gt;&lt;object type=&quot;3&quot; unique_id=&quot;55069&quot;&gt;&lt;property id=&quot;20148&quot; value=&quot;5&quot;/&gt;&lt;property id=&quot;20300&quot; value=&quot;Slide 44 - &amp;quot;Machine Learning&amp;quot;&quot;/&gt;&lt;property id=&quot;20307&quot; value=&quot;717&quot;/&gt;&lt;/object&gt;&lt;object type=&quot;3&quot; unique_id=&quot;55070&quot;&gt;&lt;property id=&quot;20148&quot; value=&quot;5&quot;/&gt;&lt;property id=&quot;20300&quot; value=&quot;Slide 46 - &amp;quot;Machine Learning Applications &amp;amp; Techniques&amp;quot;&quot;/&gt;&lt;property id=&quot;20307&quot; value=&quot;703&quot;/&gt;&lt;/object&gt;&lt;object type=&quot;3&quot; unique_id=&quot;55071&quot;&gt;&lt;property id=&quot;20148&quot; value=&quot;5&quot;/&gt;&lt;property id=&quot;20300&quot; value=&quot;Slide 48 - &amp;quot;Machine Learning Applications &amp;amp; Techniques&amp;quot;&quot;/&gt;&lt;property id=&quot;20307&quot; value=&quot;702&quot;/&gt;&lt;/object&gt;&lt;object type=&quot;3&quot; unique_id=&quot;55072&quot;&gt;&lt;property id=&quot;20148&quot; value=&quot;5&quot;/&gt;&lt;property id=&quot;20300&quot; value=&quot;Slide 49 - &amp;quot;Machine Learning Applications &amp;amp; Techniques&amp;quot;&quot;/&gt;&lt;property id=&quot;20307&quot; value=&quot;701&quot;/&gt;&lt;/object&gt;&lt;object type=&quot;3&quot; unique_id=&quot;55073&quot;&gt;&lt;property id=&quot;20148&quot; value=&quot;5&quot;/&gt;&lt;property id=&quot;20300&quot; value=&quot;Slide 50 - &amp;quot;Linear Regression&amp;quot;&quot;/&gt;&lt;property id=&quot;20307&quot; value=&quot;704&quot;/&gt;&lt;/object&gt;&lt;object type=&quot;3&quot; unique_id=&quot;55074&quot;&gt;&lt;property id=&quot;20148&quot; value=&quot;5&quot;/&gt;&lt;property id=&quot;20300&quot; value=&quot;Slide 51 - &amp;quot;Linear Regression - Intuition&amp;quot;&quot;/&gt;&lt;property id=&quot;20307&quot; value=&quot;705&quot;/&gt;&lt;/object&gt;&lt;object type=&quot;3&quot; unique_id=&quot;55075&quot;&gt;&lt;property id=&quot;20148&quot; value=&quot;5&quot;/&gt;&lt;property id=&quot;20300&quot; value=&quot;Slide 52 - &amp;quot;Linear Regression - Intuition&amp;quot;&quot;/&gt;&lt;property id=&quot;20307&quot; value=&quot;706&quot;/&gt;&lt;/object&gt;&lt;object type=&quot;3&quot; unique_id=&quot;55076&quot;&gt;&lt;property id=&quot;20148&quot; value=&quot;5&quot;/&gt;&lt;property id=&quot;20300&quot; value=&quot;Slide 53 - &amp;quot;What Is “Training The Model”?&amp;quot;&quot;/&gt;&lt;property id=&quot;20307&quot; value=&quot;730&quot;/&gt;&lt;/object&gt;&lt;object type=&quot;3&quot; unique_id=&quot;55077&quot;&gt;&lt;property id=&quot;20148&quot; value=&quot;5&quot;/&gt;&lt;property id=&quot;20300&quot; value=&quot;Slide 54 - &amp;quot;What Is “Training The Model”?&amp;quot;&quot;/&gt;&lt;property id=&quot;20307&quot; value=&quot;732&quot;/&gt;&lt;/object&gt;&lt;object type=&quot;3&quot; unique_id=&quot;55078&quot;&gt;&lt;property id=&quot;20148&quot; value=&quot;5&quot;/&gt;&lt;property id=&quot;20300&quot; value=&quot;Slide 55 - &amp;quot;What Is “Training The Model”?&amp;quot;&quot;/&gt;&lt;property id=&quot;20307&quot; value=&quot;733&quot;/&gt;&lt;/object&gt;&lt;object type=&quot;3&quot; unique_id=&quot;55079&quot;&gt;&lt;property id=&quot;20148&quot; value=&quot;5&quot;/&gt;&lt;property id=&quot;20300&quot; value=&quot;Slide 56 - &amp;quot;Machine Learning Applications &amp;amp; Techniques&amp;quot;&quot;/&gt;&lt;property id=&quot;20307&quot; value=&quot;707&quot;/&gt;&lt;/object&gt;&lt;object type=&quot;3&quot; unique_id=&quot;55080&quot;&gt;&lt;property id=&quot;20148&quot; value=&quot;5&quot;/&gt;&lt;property id=&quot;20300&quot; value=&quot;Slide 60 - &amp;quot;Measuring How Good Your Model Is&amp;quot;&quot;/&gt;&lt;property id=&quot;20307&quot; value=&quot;737&quot;/&gt;&lt;/object&gt;&lt;object type=&quot;3&quot; unique_id=&quot;55081&quot;&gt;&lt;property id=&quot;20148&quot; value=&quot;5&quot;/&gt;&lt;property id=&quot;20300&quot; value=&quot;Slide 61 - &amp;quot;Measuring How Good Your Model Is&amp;quot;&quot;/&gt;&lt;property id=&quot;20307&quot; value=&quot;734&quot;/&gt;&lt;/object&gt;&lt;object type=&quot;3&quot; unique_id=&quot;55082&quot;&gt;&lt;property id=&quot;20148&quot; value=&quot;5&quot;/&gt;&lt;property id=&quot;20300&quot; value=&quot;Slide 62 - &amp;quot;Measuring How Good Your Model Is&amp;quot;&quot;/&gt;&lt;property id=&quot;20307&quot; value=&quot;738&quot;/&gt;&lt;/object&gt;&lt;object type=&quot;3&quot; unique_id=&quot;55083&quot;&gt;&lt;property id=&quot;20148&quot; value=&quot;5&quot;/&gt;&lt;property id=&quot;20300&quot; value=&quot;Slide 63 - &amp;quot;Measuring How Good Your Model Is&amp;quot;&quot;/&gt;&lt;property id=&quot;20307&quot; value=&quot;735&quot;/&gt;&lt;/object&gt;&lt;object type=&quot;3&quot; unique_id=&quot;55084&quot;&gt;&lt;property id=&quot;20148&quot; value=&quot;5&quot;/&gt;&lt;property id=&quot;20300&quot; value=&quot;Slide 64 - &amp;quot;Machine Learning Applications &amp;amp; Techniques&amp;quot;&quot;/&gt;&lt;property id=&quot;20307&quot; value=&quot;709&quot;/&gt;&lt;/object&gt;&lt;object type=&quot;3&quot; unique_id=&quot;55085&quot;&gt;&lt;property id=&quot;20148&quot; value=&quot;5&quot;/&gt;&lt;property id=&quot;20300&quot; value=&quot;Slide 65 - &amp;quot;Decision Tree&amp;quot;&quot;/&gt;&lt;property id=&quot;20307&quot; value=&quot;745&quot;/&gt;&lt;/object&gt;&lt;object type=&quot;3&quot; unique_id=&quot;55086&quot;&gt;&lt;property id=&quot;20148&quot; value=&quot;5&quot;/&gt;&lt;property id=&quot;20300&quot; value=&quot;Slide 66 - &amp;quot;Decision Tree - Intuition&amp;quot;&quot;/&gt;&lt;property id=&quot;20307&quot; value=&quot;744&quot;/&gt;&lt;/object&gt;&lt;object type=&quot;3&quot; unique_id=&quot;55087&quot;&gt;&lt;property id=&quot;20148&quot; value=&quot;5&quot;/&gt;&lt;property id=&quot;20300&quot; value=&quot;Slide 67 - &amp;quot;Decision Tree - Intuition&amp;quot;&quot;/&gt;&lt;property id=&quot;20307&quot; value=&quot;749&quot;/&gt;&lt;/object&gt;&lt;object type=&quot;3&quot; unique_id=&quot;55088&quot;&gt;&lt;property id=&quot;20148&quot; value=&quot;5&quot;/&gt;&lt;property id=&quot;20300&quot; value=&quot;Slide 68 - &amp;quot;Decision Tree Example&amp;quot;&quot;/&gt;&lt;property id=&quot;20307&quot; value=&quot;713&quot;/&gt;&lt;/object&gt;&lt;object type=&quot;3&quot; unique_id=&quot;55089&quot;&gt;&lt;property id=&quot;20148&quot; value=&quot;5&quot;/&gt;&lt;property id=&quot;20300&quot; value=&quot;Slide 69 - &amp;quot;Machine Learning Applications &amp;amp; Techniques&amp;quot;&quot;/&gt;&lt;property id=&quot;20307&quot; value=&quot;708&quot;/&gt;&lt;/object&gt;&lt;object type=&quot;3&quot; unique_id=&quot;55090&quot;&gt;&lt;property id=&quot;20148&quot; value=&quot;5&quot;/&gt;&lt;property id=&quot;20300&quot; value=&quot;Slide 75 - &amp;quot;Machine Learning Applications &amp;amp; Techniques&amp;quot;&quot;/&gt;&lt;property id=&quot;20307&quot; value=&quot;714&quot;/&gt;&lt;/object&gt;&lt;object type=&quot;3&quot; unique_id=&quot;55091&quot;&gt;&lt;property id=&quot;20148&quot; value=&quot;5&quot;/&gt;&lt;property id=&quot;20300&quot; value=&quot;Slide 82 - &amp;quot;Pitfalls – Overfitting Of Models&amp;quot;&quot;/&gt;&lt;property id=&quot;20307&quot; value=&quot;740&quot;/&gt;&lt;/object&gt;&lt;object type=&quot;3&quot; unique_id=&quot;55092&quot;&gt;&lt;property id=&quot;20148&quot; value=&quot;5&quot;/&gt;&lt;property id=&quot;20300&quot; value=&quot;Slide 83 - &amp;quot;Pitfalls – Causality vs Correlation&amp;quot;&quot;/&gt;&lt;property id=&quot;20307&quot; value=&quot;720&quot;/&gt;&lt;/object&gt;&lt;object type=&quot;3&quot; unique_id=&quot;55093&quot;&gt;&lt;property id=&quot;20148&quot; value=&quot;5&quot;/&gt;&lt;property id=&quot;20300&quot; value=&quot;Slide 84&quot;/&gt;&lt;property id=&quot;20307&quot; value=&quot;750&quot;/&gt;&lt;/object&gt;&lt;object type=&quot;3&quot; unique_id=&quot;55094&quot;&gt;&lt;property id=&quot;20148&quot; value=&quot;5&quot;/&gt;&lt;property id=&quot;20300&quot; value=&quot;Slide 85&quot;/&gt;&lt;property id=&quot;20307&quot; value=&quot;751&quot;/&gt;&lt;/object&gt;&lt;object type=&quot;3&quot; unique_id=&quot;55095&quot;&gt;&lt;property id=&quot;20148&quot; value=&quot;5&quot;/&gt;&lt;property id=&quot;20300&quot; value=&quot;Slide 98 - &amp;quot;Leading Questions&amp;quot;&quot;/&gt;&lt;property id=&quot;20307&quot; value=&quot;741&quot;/&gt;&lt;/object&gt;&lt;object type=&quot;3&quot; unique_id=&quot;55096&quot;&gt;&lt;property id=&quot;20148&quot; value=&quot;5&quot;/&gt;&lt;property id=&quot;20300&quot; value=&quot;Slide 103 - &amp;quot;Leading Questions&amp;quot;&quot;/&gt;&lt;property id=&quot;20307&quot; value=&quot;742&quot;/&gt;&lt;/object&gt;&lt;/object&gt;&lt;object type=&quot;8&quot; unique_id=&quot;5065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simple-light-2">
  <a:themeElements>
    <a:clrScheme name="DSP-New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DC74D"/>
      </a:accent1>
      <a:accent2>
        <a:srgbClr val="EC6377"/>
      </a:accent2>
      <a:accent3>
        <a:srgbClr val="F88B6C"/>
      </a:accent3>
      <a:accent4>
        <a:srgbClr val="99CB30"/>
      </a:accent4>
      <a:accent5>
        <a:srgbClr val="5F5594"/>
      </a:accent5>
      <a:accent6>
        <a:srgbClr val="3D5C9D"/>
      </a:accent6>
      <a:hlink>
        <a:srgbClr val="6BA0E7"/>
      </a:hlink>
      <a:folHlink>
        <a:srgbClr val="3E5E84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757</Words>
  <Application>Microsoft Office PowerPoint</Application>
  <PresentationFormat>On-screen Show (16:9)</PresentationFormat>
  <Paragraphs>86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Segoe UI</vt:lpstr>
      <vt:lpstr>Arial</vt:lpstr>
      <vt:lpstr>simple-light-2</vt:lpstr>
      <vt:lpstr>Problem Statement</vt:lpstr>
      <vt:lpstr>Data available</vt:lpstr>
      <vt:lpstr>Proposed solutions</vt:lpstr>
      <vt:lpstr>Data exploration and preparation</vt:lpstr>
      <vt:lpstr>Data exploration and preparation</vt:lpstr>
      <vt:lpstr>Data exploration and preparation</vt:lpstr>
      <vt:lpstr>Performance of models</vt:lpstr>
      <vt:lpstr>Regression Identifies: Top Drivers of Price Increases Flat Model (Terrace, Type S2, Type S1) and Marine Parade Location </vt:lpstr>
      <vt:lpstr>Regression Identifies: Top Drivers of Price Decreases Flat Type (1 room flat, 2 room flat) and Sembawang Location </vt:lpstr>
      <vt:lpstr>Decision Tree Reveals: Floor Area Drives Price Segmentation</vt:lpstr>
      <vt:lpstr>Further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Goh Meng Huang</cp:lastModifiedBy>
  <cp:revision>13</cp:revision>
  <dcterms:modified xsi:type="dcterms:W3CDTF">2026-01-31T03:32:28Z</dcterms:modified>
</cp:coreProperties>
</file>